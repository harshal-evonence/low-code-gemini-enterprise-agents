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45920"/>
            <a:ext cx="9997135" cy="36576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0" y="2560320"/>
            <a:ext cx="109728" cy="164592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37744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  <a:latin typeface="Calibri"/>
              </a:defRPr>
            </a:pPr>
            <a:r>
              <a:t>ENTERPRISE SOLUTION ARCHITECTURE</a:t>
            </a:r>
          </a:p>
          <a:p>
            <a:pPr>
              <a:spcAft>
                <a:spcPts val="1200"/>
              </a:spcAft>
              <a:defRPr sz="3600" b="1">
                <a:solidFill>
                  <a:srgbClr val="F8FAFC"/>
                </a:solidFill>
                <a:latin typeface="Calibri"/>
              </a:defRPr>
            </a:pPr>
            <a:r>
              <a:t>Smart Manufacturing</a:t>
            </a:r>
            <a:br/>
            <a:r>
              <a:t>Cloud Architecture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End-to-End Industrial IoT, Real-Time Analytics &amp; AI Integration on Google Cloud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SMART MANUFACTURING CLOUD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Strategic Business 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688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103120"/>
            <a:ext cx="548640" cy="548640"/>
          </a:xfrm>
          <a:prstGeom prst="ellipse">
            <a:avLst/>
          </a:prstGeom>
          <a:solidFill>
            <a:srgbClr val="0EA5E9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Calibri"/>
              </a:defRPr>
            </a:pPr>
            <a:r>
              <a:t>Real-time Monitoring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Continuous visibility across production lines, machinery, and operational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37360"/>
            <a:ext cx="24688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49040" y="2103120"/>
            <a:ext cx="548640" cy="548640"/>
          </a:xfrm>
          <a:prstGeom prst="ellipse">
            <a:avLst/>
          </a:prstGeom>
          <a:solidFill>
            <a:srgbClr val="0EA5E9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2608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Calibri"/>
              </a:defRPr>
            </a:pPr>
            <a:r>
              <a:t>Predictive Maintenance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Proactive failure detection to minimize downtime and extend asset lifecycle.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24688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2103120"/>
            <a:ext cx="548640" cy="548640"/>
          </a:xfrm>
          <a:prstGeom prst="ellipse">
            <a:avLst/>
          </a:prstGeom>
          <a:solidFill>
            <a:srgbClr val="0EA5E9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Calibri"/>
              </a:defRPr>
            </a:pPr>
            <a:r>
              <a:t>Cloud Analytics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Centralized high-throughput telemetry data processing and historical reporting.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737360"/>
            <a:ext cx="24688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35440" y="2103120"/>
            <a:ext cx="548640" cy="548640"/>
          </a:xfrm>
          <a:prstGeom prst="ellipse">
            <a:avLst/>
          </a:prstGeom>
          <a:solidFill>
            <a:srgbClr val="0EA5E9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92608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  <a:latin typeface="Calibri"/>
              </a:defRPr>
            </a:pPr>
            <a:r>
              <a:t>AI Automation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Autonomous workflows, automated quality checks, and intelligent machine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SMART MANUFACTURING CLOUD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End-to-End Architecture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1371600" cy="2926080"/>
          </a:xfrm>
          <a:prstGeom prst="roundRect">
            <a:avLst/>
          </a:prstGeom>
          <a:solidFill>
            <a:srgbClr val="0E749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900" b="1">
                <a:solidFill>
                  <a:srgbClr val="38BDF8"/>
                </a:solidFill>
              </a:defRPr>
            </a:pPr>
            <a:r>
              <a:t>STEP 01</a:t>
            </a:r>
          </a:p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IoT Devices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Sensors &amp; PLCs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6816" y="3291840"/>
            <a:ext cx="2011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8BDF8"/>
                </a:solidFill>
              </a:defRPr>
            </a:pPr>
            <a:r>
              <a:t>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21408" y="2103120"/>
            <a:ext cx="137160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900" b="1">
                <a:solidFill>
                  <a:srgbClr val="38BDF8"/>
                </a:solidFill>
              </a:defRPr>
            </a:pPr>
            <a:r>
              <a:t>STEP 02</a:t>
            </a:r>
          </a:p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Edge Gateway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Local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9584" y="3291840"/>
            <a:ext cx="2011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8BDF8"/>
                </a:solidFill>
              </a:defRPr>
            </a:pPr>
            <a:r>
              <a:t>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94176" y="2103120"/>
            <a:ext cx="1371600" cy="29260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900" b="1">
                <a:solidFill>
                  <a:srgbClr val="38BDF8"/>
                </a:solidFill>
              </a:defRPr>
            </a:pPr>
            <a:r>
              <a:t>STEP 03</a:t>
            </a:r>
          </a:p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Cloud Pub/Sub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Streaming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2352" y="3291840"/>
            <a:ext cx="2011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8BDF8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66944" y="2103120"/>
            <a:ext cx="137160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900" b="1">
                <a:solidFill>
                  <a:srgbClr val="38BDF8"/>
                </a:solidFill>
              </a:defRPr>
            </a:pPr>
            <a:r>
              <a:t>STEP 04</a:t>
            </a:r>
          </a:p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Cloud Storage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Raw Data Lake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91840"/>
            <a:ext cx="2011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8BDF8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9712" y="2103120"/>
            <a:ext cx="137160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900" b="1">
                <a:solidFill>
                  <a:srgbClr val="38BDF8"/>
                </a:solidFill>
              </a:defRPr>
            </a:pPr>
            <a:r>
              <a:t>STEP 05</a:t>
            </a:r>
          </a:p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BigQuery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Data Warehouse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3291840"/>
            <a:ext cx="2011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8BDF8"/>
                </a:solidFill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103120"/>
            <a:ext cx="1371600" cy="29260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900" b="1">
                <a:solidFill>
                  <a:srgbClr val="38BDF8"/>
                </a:solidFill>
              </a:defRPr>
            </a:pPr>
            <a:r>
              <a:t>STEP 06</a:t>
            </a:r>
          </a:p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Vertex AI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ML &amp; Predictive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0656" y="3291840"/>
            <a:ext cx="2011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8BDF8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85248" y="2103120"/>
            <a:ext cx="1371600" cy="2926080"/>
          </a:xfrm>
          <a:prstGeom prst="roundRect">
            <a:avLst/>
          </a:prstGeom>
          <a:solidFill>
            <a:srgbClr val="0E749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900" b="1">
                <a:solidFill>
                  <a:srgbClr val="38BDF8"/>
                </a:solidFill>
              </a:defRPr>
            </a:pPr>
            <a:r>
              <a:t>STEP 07</a:t>
            </a:r>
          </a:p>
          <a:p>
            <a:pPr algn="ctr"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Looker Dashboard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Real-time BI &amp; 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SMART MANUFACTURING CLOUD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GCP Cloud Services Ecosystem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6888175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 Service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 &amp; Architectural Role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Cloud Storage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Raw Data Storage &amp; Unstructured Lake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Pub/Sub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Real-time Event Streaming &amp; Ingestion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BigQuery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Enterprise Data Warehouse &amp; Analytics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Vertex AI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Machine Learning &amp; Predictive Model Hosting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Cloud Functions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Event-Driven Serverless Automation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Cloud Run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Containerized Microservices &amp; API Hosting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Secret Manager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Secure Credentials &amp; Encryption Keys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SMART MANUFACTURING CLOUD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Enterprise Security &amp;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🔒  IAM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Identity &amp; Access Management for fine-grained permissions.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29184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🔒  OAuth2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Standardized authentication for Edge &amp; API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29184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🔒  VPC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Virtual Private Cloud isolating infrastructure resources.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29184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🔒  Private Service Connect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Secure private endpoints between GCP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931920"/>
            <a:ext cx="329184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🔒  CMEK Encryption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Customer-Managed Encryption Keys for data at rest.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931920"/>
            <a:ext cx="329184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🔒  Cloud Logging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Centralized audit trails and real-time security alerts.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SMART MANUFACTURING CLOUD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Key Performance Metrics &amp; SLAs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100" b="1">
                <a:solidFill>
                  <a:srgbClr val="94A3B8"/>
                </a:solidFill>
              </a:defRPr>
            </a:pPr>
            <a:r>
              <a:t>AVAILABILITY</a:t>
            </a:r>
          </a:p>
          <a:p>
            <a:pPr algn="ctr">
              <a:spcAft>
                <a:spcPts val="1600"/>
              </a:spcAft>
              <a:defRPr sz="2800" b="1">
                <a:solidFill>
                  <a:srgbClr val="38BDF8"/>
                </a:solidFill>
              </a:defRPr>
            </a:pPr>
            <a:r>
              <a:t>99.9%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t>Platform uptime target ensuring high-availability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24688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100" b="1">
                <a:solidFill>
                  <a:srgbClr val="94A3B8"/>
                </a:solidFill>
              </a:defRPr>
            </a:pPr>
            <a:r>
              <a:t>API RESPONSE</a:t>
            </a:r>
          </a:p>
          <a:p>
            <a:pPr algn="ctr">
              <a:spcAft>
                <a:spcPts val="1600"/>
              </a:spcAft>
              <a:defRPr sz="2800" b="1">
                <a:solidFill>
                  <a:srgbClr val="38BDF8"/>
                </a:solidFill>
              </a:defRPr>
            </a:pPr>
            <a:r>
              <a:t>&lt; 2 sec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t>Maximum latency threshold for edge and web API calls.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24688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100" b="1">
                <a:solidFill>
                  <a:srgbClr val="94A3B8"/>
                </a:solidFill>
              </a:defRPr>
            </a:pPr>
            <a:r>
              <a:t>SENSOR THROUGHPUT</a:t>
            </a:r>
          </a:p>
          <a:p>
            <a:pPr algn="ctr">
              <a:spcAft>
                <a:spcPts val="1600"/>
              </a:spcAft>
              <a:defRPr sz="2800" b="1">
                <a:solidFill>
                  <a:srgbClr val="38BDF8"/>
                </a:solidFill>
              </a:defRPr>
            </a:pPr>
            <a:r>
              <a:t>50,000 / sec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t>Real-time telemetry ingestion capacity across factory floors.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828800"/>
            <a:ext cx="24688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100" b="1">
                <a:solidFill>
                  <a:srgbClr val="94A3B8"/>
                </a:solidFill>
              </a:defRPr>
            </a:pPr>
            <a:r>
              <a:t>DASHBOARD REFRESH</a:t>
            </a:r>
          </a:p>
          <a:p>
            <a:pPr algn="ctr">
              <a:spcAft>
                <a:spcPts val="1600"/>
              </a:spcAft>
              <a:defRPr sz="2800" b="1">
                <a:solidFill>
                  <a:srgbClr val="38BDF8"/>
                </a:solidFill>
              </a:defRPr>
            </a:pPr>
            <a:r>
              <a:t>5 sec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t>Near real-time refresh rate for Looker operational 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SMART MANUFACTURING CLOUD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Future Innovation Roadmap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783080"/>
            <a:ext cx="320040" cy="320040"/>
          </a:xfrm>
          <a:prstGeom prst="ellipse">
            <a:avLst/>
          </a:prstGeom>
          <a:solidFill>
            <a:srgbClr val="38BD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8755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Digital Twin — </a:t>
            </a:r>
            <a:r>
              <a:rPr sz="1300" b="0">
                <a:solidFill>
                  <a:srgbClr val="F8FAFC"/>
                </a:solidFill>
              </a:rPr>
              <a:t>Full 3D digital mirroring of factory floors and machinery state.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697480"/>
            <a:ext cx="320040" cy="320040"/>
          </a:xfrm>
          <a:prstGeom prst="ellipse">
            <a:avLst/>
          </a:prstGeom>
          <a:solidFill>
            <a:srgbClr val="38BD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560320"/>
            <a:ext cx="98755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Generative AI Assistant — </a:t>
            </a:r>
            <a:r>
              <a:rPr sz="1300" b="0">
                <a:solidFill>
                  <a:srgbClr val="F8FAFC"/>
                </a:solidFill>
              </a:rPr>
              <a:t>Context-aware LLM for troubleshooting and plant operators.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611880"/>
            <a:ext cx="320040" cy="320040"/>
          </a:xfrm>
          <a:prstGeom prst="ellipse">
            <a:avLst/>
          </a:prstGeom>
          <a:solidFill>
            <a:srgbClr val="38BD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3474720"/>
            <a:ext cx="98755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Autonomous Quality Inspection — </a:t>
            </a:r>
            <a:r>
              <a:rPr sz="1300" b="0">
                <a:solidFill>
                  <a:srgbClr val="F8FAFC"/>
                </a:solidFill>
              </a:rPr>
              <a:t>Computer vision pipelines for real-time defect detection.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526280"/>
            <a:ext cx="320040" cy="320040"/>
          </a:xfrm>
          <a:prstGeom prst="ellipse">
            <a:avLst/>
          </a:prstGeom>
          <a:solidFill>
            <a:srgbClr val="38BD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4389120"/>
            <a:ext cx="98755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Multi-cloud Deployment — </a:t>
            </a:r>
            <a:r>
              <a:rPr sz="1300" b="0">
                <a:solidFill>
                  <a:srgbClr val="F8FAFC"/>
                </a:solidFill>
              </a:rPr>
              <a:t>Hybrid/Multi-cloud capability for disaster recovery and edge resilience.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440680"/>
            <a:ext cx="320040" cy="320040"/>
          </a:xfrm>
          <a:prstGeom prst="ellipse">
            <a:avLst/>
          </a:prstGeom>
          <a:solidFill>
            <a:srgbClr val="38BD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5303520"/>
            <a:ext cx="987552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AI Copilot for Engineers — </a:t>
            </a:r>
            <a:r>
              <a:rPr sz="1300" b="0">
                <a:solidFill>
                  <a:srgbClr val="F8FAFC"/>
                </a:solidFill>
              </a:rPr>
              <a:t>Predictive guidance and automated root-cause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