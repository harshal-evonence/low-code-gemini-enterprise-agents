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41264"/>
            <a:ext cx="291465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97610"/>
            <a:ext cx="10363200" cy="619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428625"/>
            <a:ext cx="133350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428625"/>
            <a:ext cx="1333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935735"/>
            <a:ext cx="2019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Prepared For</a:t>
            </a:r>
            <a:r>
              <a:rPr b="0" sz="1200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Plus Jakarta Sans SemiBold"/>
              </a:rPr>
              <a:t>Executive Leadership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4700" y="4935735"/>
            <a:ext cx="1657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Period</a:t>
            </a:r>
            <a:r>
              <a:rPr b="0" sz="1200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Plus Jakarta Sans SemiBold"/>
              </a:rPr>
              <a:t>Q3 Operations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3050" y="4935735"/>
            <a:ext cx="1781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Focus Area</a:t>
            </a:r>
            <a:r>
              <a:rPr b="0" sz="1200" i="0" u="none">
                <a:solidFill>
                  <a:srgbClr val="FFFFFF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F8FAFC"/>
                </a:solidFill>
                <a:latin typeface="Plus Jakarta Sans SemiBold"/>
              </a:rPr>
              <a:t>Supply Chain &amp; Logistics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6564"/>
            <a:ext cx="7070883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oppins"/>
              </a:rPr>
              <a:t>Sales &amp; Operations</a:t>
            </a:r>
            <a:r>
              <a:t>
</a:t>
            </a:r>
            <a:r>
              <a:rPr b="1" sz="4350" i="0" u="none">
                <a:solidFill>
                  <a:srgbClr val="FFFFFF"/>
                </a:solidFill>
                <a:latin typeface="Poppins"/>
              </a:rPr>
              <a:t> Planning (S&amp;OP)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97460"/>
            <a:ext cx="762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Executive Business Performance, Inventory Health &amp; Operational Alignment Strategy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190500"/>
            <a:ext cx="493395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09675"/>
            <a:ext cx="2638425" cy="1885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1209675"/>
            <a:ext cx="2638425" cy="1885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209675"/>
            <a:ext cx="2638425" cy="1885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1209675"/>
            <a:ext cx="2638425" cy="1885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324225"/>
            <a:ext cx="5391150" cy="3076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3324225"/>
            <a:ext cx="5391150" cy="3076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7650" y="428625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428625"/>
            <a:ext cx="1333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4875" y="2705100"/>
            <a:ext cx="20288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16A34A"/>
                </a:solidFill>
                <a:latin typeface="Plus Jakarta Sans SemiBold"/>
              </a:rPr>
              <a:t>+2.8% vs 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3325" y="2705100"/>
            <a:ext cx="201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D97706"/>
                </a:solidFill>
                <a:latin typeface="Plus Jakarta Sans SemiBold"/>
              </a:rPr>
              <a:t>Target: 8.0x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2705100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16A34A"/>
                </a:solidFill>
                <a:latin typeface="Plus Jakarta Sans SemiBold"/>
              </a:rPr>
              <a:t>High Fill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1650" y="2705100"/>
            <a:ext cx="20288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DC2626"/>
                </a:solidFill>
                <a:latin typeface="Plus Jakarta Sans SemiBold"/>
              </a:rPr>
              <a:t>-4.5% vs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600450"/>
            <a:ext cx="5080635" cy="28575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Business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600450"/>
            <a:ext cx="5080635" cy="28575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Critical Operational Highlights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1447800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2019300"/>
            <a:ext cx="21621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1" sz="2850" i="0" u="none">
                <a:solidFill>
                  <a:srgbClr val="0F172A"/>
                </a:solidFill>
                <a:latin typeface="Poppins"/>
              </a:rPr>
              <a:t>92.4%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2438400"/>
            <a:ext cx="2162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SemiBold"/>
              </a:rPr>
              <a:t>Forecast Accuracy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719387"/>
            <a:ext cx="9525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450" y="1447800"/>
            <a:ext cx="41910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00450" y="2019300"/>
            <a:ext cx="21621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1" sz="2850" i="0" u="none">
                <a:solidFill>
                  <a:srgbClr val="0F172A"/>
                </a:solidFill>
                <a:latin typeface="Poppins"/>
              </a:rPr>
              <a:t>6.4x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450" y="2438400"/>
            <a:ext cx="2162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SemiBold"/>
              </a:rPr>
              <a:t>Inventory Turnover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0450" y="2719387"/>
            <a:ext cx="1047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1447800"/>
            <a:ext cx="419100" cy="41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29375" y="2019300"/>
            <a:ext cx="21621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1" sz="2850" i="0" u="none">
                <a:solidFill>
                  <a:srgbClr val="0F172A"/>
                </a:solidFill>
                <a:latin typeface="Poppins"/>
              </a:rPr>
              <a:t>88.5%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375" y="2438400"/>
            <a:ext cx="2162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SemiBold"/>
              </a:rPr>
              <a:t>Warehouse Capacity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719387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300" y="1447800"/>
            <a:ext cx="419100" cy="4191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58300" y="2019300"/>
            <a:ext cx="21621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1" sz="2850" i="0" u="none">
                <a:solidFill>
                  <a:srgbClr val="0F172A"/>
                </a:solidFill>
                <a:latin typeface="Poppins"/>
              </a:rPr>
              <a:t>84.2%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300" y="2438400"/>
            <a:ext cx="2162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 SemiBold"/>
              </a:rPr>
              <a:t>Supplier On-Time SLA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58300" y="2719387"/>
            <a:ext cx="95250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625" y="3648075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4425" y="40767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Order Fulfillment: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Demand across key hardware sectors remained strong, driving a 6.2% QoQ revenue increase.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425" y="46863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Operational Resilience: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Mitigated core regional supply bottlenecks through optimized re-routing.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425" y="5295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Service Levels: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Customer delivery satisfaction reached 94.1% despite logistical delays.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3675" y="3648075"/>
            <a:ext cx="1905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48475" y="40767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Networking Equipment Deficit: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Stockout risks elevated in networking units due to component lead times.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8475" y="46863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Supplier SLA Disparity: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Delayed POs increased lead times by an average of 4.2 days across tier-1 suppliers.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475" y="5295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Capacity Imbalance: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Central distribution hubs operating at near peak limits requiring rebalancing.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825" y="1562100"/>
            <a:ext cx="190500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00462" y="1562100"/>
            <a:ext cx="219075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9862" y="1562100"/>
            <a:ext cx="238125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48787" y="1562100"/>
            <a:ext cx="238125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9625" y="4100512"/>
            <a:ext cx="152400" cy="1809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9625" y="4710112"/>
            <a:ext cx="152400" cy="1809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9625" y="5319712"/>
            <a:ext cx="152400" cy="1809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3675" y="4100512"/>
            <a:ext cx="171450" cy="1809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43675" y="4710112"/>
            <a:ext cx="171450" cy="1809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43675" y="5319712"/>
            <a:ext cx="171450" cy="1809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33400" y="457200"/>
            <a:ext cx="1165860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Executive Summary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29025" y="190500"/>
            <a:ext cx="493395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09675"/>
            <a:ext cx="539115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09675"/>
            <a:ext cx="5391150" cy="519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648200"/>
            <a:ext cx="483870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19400"/>
            <a:ext cx="483870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314700"/>
            <a:ext cx="483870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810000"/>
            <a:ext cx="4838700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305300"/>
            <a:ext cx="4838700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819400"/>
            <a:ext cx="4645074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314700"/>
            <a:ext cx="4838700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3810000"/>
            <a:ext cx="4257972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4305300"/>
            <a:ext cx="4451598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7650" y="428625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0" y="428625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9625" y="1485900"/>
            <a:ext cx="508063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Demand Forecast vs. Actuals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1847850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Comparison of planned product units against actual market consumption for Q3.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1485900"/>
            <a:ext cx="508063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Inventory Metrics &amp;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4781550"/>
            <a:ext cx="4533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369A1"/>
                </a:solidFill>
                <a:latin typeface="Plus Jakarta Sans"/>
              </a:rPr>
              <a:t>Key Insight:</a:t>
            </a:r>
            <a:r>
              <a:rPr b="0" sz="1050" i="0" u="none">
                <a:solidFill>
                  <a:srgbClr val="0369A1"/>
                </a:solidFill>
                <a:latin typeface="Plus Jakarta Sans Medium"/>
              </a:rPr>
              <a:t> Unexpected 14% demand surge in networking hardware strained safety stocks, causing localized stockouts.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475" y="1981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Days of Supply (DOS):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Averaging 42 days across portfolio (Target range: 35–40 days).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25908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Stockout Risks: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Networking equipment safety stock levels fell below 8 days of threshold coverage.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32004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Turnover Rate: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Currently standing at 6.4x annually; requires targeted liquidations of legacy accessories.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475" y="38100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Excess &amp; Obsolete (E&amp;O):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E&amp;O inventory held at 3.1% of total valuation, within acceptable parameters.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590800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Enterprise Hardware</a:t>
            </a:r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96% Met (14,200 units)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3086100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Networking Equipment</a:t>
            </a:r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114% Surge (Stockout Risk)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3581400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Peripherals &amp; Accessories</a:t>
            </a:r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88% Met (9,800 units)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4076700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Cloud Infrastructure Units</a:t>
            </a:r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92% Met (7,400 units)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2005012"/>
            <a:ext cx="17145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3675" y="2614612"/>
            <a:ext cx="17145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675" y="3224212"/>
            <a:ext cx="17145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3675" y="3833812"/>
            <a:ext cx="219075" cy="1809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33400" y="457200"/>
            <a:ext cx="1165860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Demand &amp; Inventory Health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29025" y="190500"/>
            <a:ext cx="493395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95450"/>
            <a:ext cx="5105400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00600"/>
            <a:ext cx="5105400" cy="1924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28975"/>
            <a:ext cx="4552950" cy="114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724275"/>
            <a:ext cx="455295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219575"/>
            <a:ext cx="455295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228975"/>
            <a:ext cx="4279701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724275"/>
            <a:ext cx="3733353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219575"/>
            <a:ext cx="3232546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650" y="428625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0" y="428625"/>
            <a:ext cx="13335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57200"/>
            <a:ext cx="536067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Warehouse Operations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" y="1971675"/>
            <a:ext cx="478059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Capacity &amp; Distribution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333625"/>
            <a:ext cx="4552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High overall utilization is impacting picking speed and throughput efficiencies across primary regional hubs.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076825"/>
            <a:ext cx="478059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Operational Bottlenecks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5438775"/>
            <a:ext cx="4248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Internal Transfers: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Transfer lag between East and Central facilities increased to 3.5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5991225"/>
            <a:ext cx="4248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Inbound Processing: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Dock-to-stock cycle times reached 18 hours during peak weeks.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000375"/>
            <a:ext cx="4552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Central Distribution Hub</a:t>
            </a:r>
            <a:r>
              <a:rPr b="0" sz="1050" i="0" u="none">
                <a:solidFill>
                  <a:srgbClr val="DC2626"/>
                </a:solidFill>
                <a:latin typeface="Plus Jakarta Sans SemiBold"/>
              </a:rPr>
              <a:t>94% Utilization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495675"/>
            <a:ext cx="4552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Eastern Region Facility</a:t>
            </a:r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82%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990975"/>
            <a:ext cx="4552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Western Region Facility</a:t>
            </a:r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71% Utilization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5462587"/>
            <a:ext cx="1905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6015037"/>
            <a:ext cx="1333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9025" y="190500"/>
            <a:ext cx="493395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28775"/>
            <a:ext cx="1112520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33875"/>
            <a:ext cx="5467350" cy="1114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333875"/>
            <a:ext cx="5467350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428625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428625"/>
            <a:ext cx="1333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1209675"/>
            <a:ext cx="1112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Vendor performance scorecards highlight lead time variance as the primary constraint on supply chain agility.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2925" y="1638300"/>
          <a:ext cx="11106148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03326"/>
                <a:gridCol w="2051744"/>
                <a:gridCol w="2242691"/>
                <a:gridCol w="2123330"/>
                <a:gridCol w="1885057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oppins"/>
                        </a:rPr>
                        <a:t>Supplier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oppins"/>
                        </a:rPr>
                        <a:t>On-Time Delivery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oppins"/>
                        </a:rPr>
                        <a:t>Lead Time Variance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oppins"/>
                        </a:rPr>
                        <a:t>Delayed PO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oppins"/>
                        </a:rPr>
                        <a:t>SLA Compliance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Tier-1 Semiconductors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78%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+6.5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14 Active POs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Non-Compliant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Networking Chassis Mfrs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82%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+4.0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8 Active POs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At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Cable &amp; Assembly Vendors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94%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+1.2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 Active POs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Compliant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Global Freight Logistics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86%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+3.5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6 Shipments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At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2925" y="2095500"/>
            <a:ext cx="280332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251" y="2095500"/>
            <a:ext cx="205174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7996" y="2095500"/>
            <a:ext cx="224269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40687" y="2095500"/>
            <a:ext cx="212333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64017" y="2095500"/>
            <a:ext cx="188505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425" y="4533900"/>
            <a:ext cx="5320665" cy="23812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oppins SemiBold"/>
              </a:rPr>
              <a:t>Transportation Delays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4848225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Port congestion and customs clearance bottlenecks added an average of 3.5 days to inbound ocean shipments.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4533900"/>
            <a:ext cx="5320665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oppins SemiBold"/>
              </a:rPr>
              <a:t>SLA Corrective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4848225"/>
            <a:ext cx="50673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Initiated financial penalty enforcement for Tier-1 suppliers missing critical 90% OTD SLA benchmarks.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2925" y="2605087"/>
            <a:ext cx="280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6251" y="2605087"/>
            <a:ext cx="20517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7996" y="2605087"/>
            <a:ext cx="2242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0687" y="2605087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64017" y="2605087"/>
            <a:ext cx="18850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2925" y="3100387"/>
            <a:ext cx="280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46251" y="3100387"/>
            <a:ext cx="20517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97996" y="3100387"/>
            <a:ext cx="2242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40687" y="3100387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64017" y="3100387"/>
            <a:ext cx="18850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2925" y="3595687"/>
            <a:ext cx="280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46251" y="3595687"/>
            <a:ext cx="20517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97996" y="3595687"/>
            <a:ext cx="2242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40687" y="3595687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64017" y="3595687"/>
            <a:ext cx="18850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4572000"/>
            <a:ext cx="1905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4572000"/>
            <a:ext cx="1143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5467" y="2257425"/>
            <a:ext cx="1066800" cy="2190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5467" y="2752725"/>
            <a:ext cx="561975" cy="2190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5467" y="3248025"/>
            <a:ext cx="771525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5467" y="3743325"/>
            <a:ext cx="561975" cy="2190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33400" y="457200"/>
            <a:ext cx="1165860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Supplier &amp; Logistics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9025" y="190500"/>
            <a:ext cx="493395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09675"/>
            <a:ext cx="355595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09675"/>
            <a:ext cx="3555950" cy="519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1209675"/>
            <a:ext cx="3556099" cy="5191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4478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14478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14478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2971800"/>
            <a:ext cx="3079849" cy="771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3933825"/>
            <a:ext cx="3079849" cy="771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650" y="428625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0" y="428625"/>
            <a:ext cx="13335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90625" y="1471612"/>
            <a:ext cx="189023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oppins SemiBold"/>
              </a:rPr>
              <a:t>Immediate 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076450"/>
            <a:ext cx="2774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Expedite Delayed POs: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Authorize premium air freight for 14 delayed semiconductor orders.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914650"/>
            <a:ext cx="2774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Inventory Reallocation: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Shift 15% stock from West facility to Central hub to relieve demand pressure.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3752850"/>
            <a:ext cx="2774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Networking Safety Stock: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Increase minimum threshold by 20% for critical networking gear.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5175" y="1471612"/>
            <a:ext cx="210026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oppins SemiBold"/>
              </a:rPr>
              <a:t>Medium-Term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875" y="2076450"/>
            <a:ext cx="2774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Supplier Diversification: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Qualify dual-source secondary vendors for high-risk component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875" y="2914650"/>
            <a:ext cx="2774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Forecast Accuracy: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Implement machine-learning demand modeling to reduce variance below 5%.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875" y="3752850"/>
            <a:ext cx="27749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Capacity Optimization: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Re-balance warehouse slotting layouts to boost picking efficiency by 18%.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725" y="1471612"/>
            <a:ext cx="14801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Poppins SemiBold"/>
              </a:rPr>
              <a:t>Success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2152650"/>
            <a:ext cx="3079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38BDF8"/>
                </a:solidFill>
                <a:latin typeface="Poppins"/>
              </a:rPr>
              <a:t>95.0%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0625" y="2609850"/>
            <a:ext cx="30798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 SemiBold"/>
              </a:rPr>
              <a:t>Supplier On-Time Delivery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0625" y="3114675"/>
            <a:ext cx="3079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ADE80"/>
                </a:solidFill>
                <a:latin typeface="Poppins"/>
              </a:rPr>
              <a:t>-30%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0625" y="3571875"/>
            <a:ext cx="30798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 SemiBold"/>
              </a:rPr>
              <a:t>Reduction in Stockout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0625" y="4076700"/>
            <a:ext cx="30798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ACC15"/>
                </a:solidFill>
                <a:latin typeface="Poppins"/>
              </a:rPr>
              <a:t>8.0x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0625" y="4533900"/>
            <a:ext cx="30798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 SemiBold"/>
              </a:rPr>
              <a:t>Inventory Turnover Target Next Quarter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2100262"/>
            <a:ext cx="15240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2938462"/>
            <a:ext cx="17145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3776662"/>
            <a:ext cx="17145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6075" y="2100262"/>
            <a:ext cx="21907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6075" y="2938462"/>
            <a:ext cx="190500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6075" y="3776662"/>
            <a:ext cx="171450" cy="1809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3400" y="457200"/>
            <a:ext cx="1165860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oppins"/>
              </a:rPr>
              <a:t>Executive Action Plan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29025" y="190500"/>
            <a:ext cx="493395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